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8872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w Cyberbezpieczeństwie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Wykład część I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0" y="2834640"/>
            <a:ext cx="2743200" cy="27432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30175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Ramy cyberbezpieczeństwa · NIST AI RMF · Bezpieczeństwo modeli AI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wykładu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główne bloki tematyczne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978408"/>
            <a:ext cx="8138160" cy="13716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115568"/>
            <a:ext cx="832104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115568"/>
            <a:ext cx="64008" cy="7772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16128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71600" y="117043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Budowanie ram cyberbezpieczeństwa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15544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CSF 2.0, Triada CIA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2002536"/>
            <a:ext cx="832104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2002536"/>
            <a:ext cx="64008" cy="777240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04825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371600" y="205740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AI Risk Management Framework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24414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Zasady, odbiorcy, AI RMF Core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2889504"/>
            <a:ext cx="832104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2889504"/>
            <a:ext cx="64008" cy="77724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293522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371600" y="294436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 zabezpieczyć modele AI?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71600" y="33284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Dane, modele, użytkowanie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1480" y="3776472"/>
            <a:ext cx="832104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1480" y="3776472"/>
            <a:ext cx="64008" cy="77724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382219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371600" y="3831336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Zagrożenia i środki zaradcze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371600" y="42153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Poisoning, injection, guardrails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2560320" y="192024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Cybersecurity Framework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560320" y="283464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Budowanie ram bezpieczeństwa cybernetycznego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Cybersecurity Framework 2.0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Sześć kluczowych funkcji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978408"/>
            <a:ext cx="8138160" cy="13716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115568"/>
            <a:ext cx="2670048" cy="170992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115568"/>
            <a:ext cx="2670048" cy="50292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8" name="Text 6"/>
          <p:cNvSpPr/>
          <p:nvPr/>
        </p:nvSpPr>
        <p:spPr>
          <a:xfrm>
            <a:off x="576072" y="1234440"/>
            <a:ext cx="2441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76072" y="1554480"/>
            <a:ext cx="2441448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Kontekst organizacji, tolerancja ryzyka, misja i cele strategiczne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18688" y="1115568"/>
            <a:ext cx="2670048" cy="170992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18688" y="1115568"/>
            <a:ext cx="2670048" cy="5029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1234440"/>
            <a:ext cx="2441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83280" y="1554480"/>
            <a:ext cx="2441448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Inwentaryzacja zasobów, ocena ryzyka, luki bezpieczeństwa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25896" y="1115568"/>
            <a:ext cx="2670048" cy="170992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25896" y="1115568"/>
            <a:ext cx="2670048" cy="50292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16" name="Text 14"/>
          <p:cNvSpPr/>
          <p:nvPr/>
        </p:nvSpPr>
        <p:spPr>
          <a:xfrm>
            <a:off x="6190488" y="1234440"/>
            <a:ext cx="2441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90488" y="1554480"/>
            <a:ext cx="2441448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Kontrola dostępu, szkolenia, zabezpieczenia techniczne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" y="2962656"/>
            <a:ext cx="2670048" cy="170992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11480" y="2962656"/>
            <a:ext cx="2670048" cy="5029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0" name="Text 18"/>
          <p:cNvSpPr/>
          <p:nvPr/>
        </p:nvSpPr>
        <p:spPr>
          <a:xfrm>
            <a:off x="576072" y="3081528"/>
            <a:ext cx="2441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76072" y="3401568"/>
            <a:ext cx="2441448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Monitoring, wykrywanie anomalii, alerty i korelacja zdarzeń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18688" y="2962656"/>
            <a:ext cx="2670048" cy="170992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18688" y="2962656"/>
            <a:ext cx="2670048" cy="50292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4" name="Text 22"/>
          <p:cNvSpPr/>
          <p:nvPr/>
        </p:nvSpPr>
        <p:spPr>
          <a:xfrm>
            <a:off x="3383280" y="3081528"/>
            <a:ext cx="2441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383280" y="3401568"/>
            <a:ext cx="2441448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Reagowanie na incydenty, komunikacja, izolacja zagrożeń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025896" y="2962656"/>
            <a:ext cx="2670048" cy="170992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25896" y="2962656"/>
            <a:ext cx="2670048" cy="50292"/>
          </a:xfrm>
          <a:prstGeom prst="rect">
            <a:avLst/>
          </a:prstGeom>
          <a:solidFill>
            <a:srgbClr val="FF6B9D"/>
          </a:solidFill>
          <a:ln/>
        </p:spPr>
      </p:sp>
      <p:sp>
        <p:nvSpPr>
          <p:cNvPr id="28" name="Text 26"/>
          <p:cNvSpPr/>
          <p:nvPr/>
        </p:nvSpPr>
        <p:spPr>
          <a:xfrm>
            <a:off x="6190488" y="3081528"/>
            <a:ext cx="2441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190488" y="3401568"/>
            <a:ext cx="2441448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Przywracanie działania, wnioski, doskonalenie procesów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Triada CIA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Fundamenty bezpieczeństwa informacji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978408"/>
            <a:ext cx="8138160" cy="13716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115568"/>
            <a:ext cx="2670048" cy="356616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115568"/>
            <a:ext cx="2670048" cy="5029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576072" y="1234440"/>
            <a:ext cx="2441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Confidentiality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76072" y="166420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Poufność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6072" y="2084832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Dane dostępne tylko dla uprawnionych. Mechanizmy: szyfrowanie, kontrola dostępu, klasyfikacja danych.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18688" y="1115568"/>
            <a:ext cx="2670048" cy="356616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18688" y="1115568"/>
            <a:ext cx="2670048" cy="50292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13" name="Text 11"/>
          <p:cNvSpPr/>
          <p:nvPr/>
        </p:nvSpPr>
        <p:spPr>
          <a:xfrm>
            <a:off x="3383280" y="1234440"/>
            <a:ext cx="2441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83280" y="166420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Integralność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383280" y="2084832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Dane są dokładne i niezmienione bez autoryzacji. Mechanizmy: sumy kontrolne, podpisy cyfrowe, logi audytowe.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25896" y="1115568"/>
            <a:ext cx="2670048" cy="356616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25896" y="1115568"/>
            <a:ext cx="2670048" cy="5029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8" name="Text 16"/>
          <p:cNvSpPr/>
          <p:nvPr/>
        </p:nvSpPr>
        <p:spPr>
          <a:xfrm>
            <a:off x="6190488" y="1234440"/>
            <a:ext cx="2441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90488" y="166420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Dostępność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190488" y="2084832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Systemy działają, kiedy są potrzebne. Mechanizmy: redundancja, DDoS protection, backup &amp; recovery.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2560320" y="192024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AI Risk Management Framework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560320" y="283464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Zarządzanie ryzykiem sztucznej inteligencji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AI RMF – czym jest?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Dobrowolne narzędzie zarządzania ryzykiem AI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978408"/>
            <a:ext cx="8138160" cy="13716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115568"/>
            <a:ext cx="8321040" cy="13258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115568"/>
            <a:ext cx="64008" cy="1325880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1887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Definicja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1792" y="1536192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Dobrowolne narzędzie wspierające organizacje w projektowaniu, tworzeniu, wdrażaniu oraz wykorzystywaniu systemów AI — w celu zarządzania ryzykiem i promowania godnej zaufania, odpowiedzialnej sztucznej inteligencji.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263347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Kto jest odbiorcą?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11480" y="3063240"/>
            <a:ext cx="2670048" cy="88696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1480" y="3063240"/>
            <a:ext cx="2670048" cy="5029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3" name="Text 11"/>
          <p:cNvSpPr/>
          <p:nvPr/>
        </p:nvSpPr>
        <p:spPr>
          <a:xfrm>
            <a:off x="576072" y="3182112"/>
            <a:ext cx="2441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Firmy technologiczne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76072" y="3502152"/>
            <a:ext cx="244144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Projektujące i rozwijające systemy AI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18688" y="3063240"/>
            <a:ext cx="2670048" cy="88696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18688" y="3063240"/>
            <a:ext cx="2670048" cy="50292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17" name="Text 15"/>
          <p:cNvSpPr/>
          <p:nvPr/>
        </p:nvSpPr>
        <p:spPr>
          <a:xfrm>
            <a:off x="3383280" y="3182112"/>
            <a:ext cx="2441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Sektor publiczny &amp; biznes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83280" y="3502152"/>
            <a:ext cx="244144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Instytucje wdrażające AI: finanse, zdrowie, administracja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25896" y="3063240"/>
            <a:ext cx="2670048" cy="88696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25896" y="3063240"/>
            <a:ext cx="2670048" cy="5029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1" name="Text 19"/>
          <p:cNvSpPr/>
          <p:nvPr/>
        </p:nvSpPr>
        <p:spPr>
          <a:xfrm>
            <a:off x="6190488" y="3182112"/>
            <a:ext cx="2441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Użytkownicy końcowi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190488" y="3502152"/>
            <a:ext cx="244144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Korzystający z rozwiązań opartych na AI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11480" y="4050792"/>
            <a:ext cx="2670048" cy="88696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11480" y="4050792"/>
            <a:ext cx="2670048" cy="50292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5" name="Text 23"/>
          <p:cNvSpPr/>
          <p:nvPr/>
        </p:nvSpPr>
        <p:spPr>
          <a:xfrm>
            <a:off x="576072" y="4169664"/>
            <a:ext cx="2441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Audytorzy &amp; compliance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76072" y="4489704"/>
            <a:ext cx="244144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Zespoły odpowiedzialne za zgodność z przepisami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18688" y="4050792"/>
            <a:ext cx="2670048" cy="88696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18688" y="4050792"/>
            <a:ext cx="2670048" cy="50292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29" name="Text 27"/>
          <p:cNvSpPr/>
          <p:nvPr/>
        </p:nvSpPr>
        <p:spPr>
          <a:xfrm>
            <a:off x="3383280" y="4169664"/>
            <a:ext cx="2441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Nauka &amp; edukacja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383280" y="4489704"/>
            <a:ext cx="244144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Środowisko badawcze i akademickie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zasad zaufanej i odpowiedzialnej AI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AI RMF Core Principles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978408"/>
            <a:ext cx="8138160" cy="13716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115568"/>
            <a:ext cx="2670048" cy="170992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115568"/>
            <a:ext cx="2670048" cy="5029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576072" y="1234440"/>
            <a:ext cx="2441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Praworządność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76072" y="1554480"/>
            <a:ext cx="2441448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Systemy AI zgodne z prawem i regulacjami prawnymi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18688" y="1115568"/>
            <a:ext cx="2670048" cy="170992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18688" y="1115568"/>
            <a:ext cx="2670048" cy="50292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1234440"/>
            <a:ext cx="2441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Uczciwość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83280" y="1554480"/>
            <a:ext cx="2441448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Eliminowanie uprzedzeń, sprawiedliwe traktowanie wszystkich grup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25896" y="1115568"/>
            <a:ext cx="2670048" cy="170992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25896" y="1115568"/>
            <a:ext cx="2670048" cy="5029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6" name="Text 14"/>
          <p:cNvSpPr/>
          <p:nvPr/>
        </p:nvSpPr>
        <p:spPr>
          <a:xfrm>
            <a:off x="6190488" y="1234440"/>
            <a:ext cx="2441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Przejrzystość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90488" y="1554480"/>
            <a:ext cx="2441448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Otwartość co do działania systemów AI i podejmowanych decyzji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" y="2962656"/>
            <a:ext cx="2670048" cy="170992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11480" y="2962656"/>
            <a:ext cx="2670048" cy="50292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0" name="Text 18"/>
          <p:cNvSpPr/>
          <p:nvPr/>
        </p:nvSpPr>
        <p:spPr>
          <a:xfrm>
            <a:off x="576072" y="3081528"/>
            <a:ext cx="2441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Bezpieczeństwo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76072" y="3401568"/>
            <a:ext cx="2441448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Odporność na ataki, niezawodność i cyberbezpieczeństwo AI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18688" y="2962656"/>
            <a:ext cx="2670048" cy="170992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18688" y="2962656"/>
            <a:ext cx="2670048" cy="50292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24" name="Text 22"/>
          <p:cNvSpPr/>
          <p:nvPr/>
        </p:nvSpPr>
        <p:spPr>
          <a:xfrm>
            <a:off x="3383280" y="3081528"/>
            <a:ext cx="2441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Prywatność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383280" y="3401568"/>
            <a:ext cx="2441448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Ochrona danych osobowych w całym cyklu życia systemu AI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025896" y="2962656"/>
            <a:ext cx="2670048" cy="170992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25896" y="2962656"/>
            <a:ext cx="2670048" cy="50292"/>
          </a:xfrm>
          <a:prstGeom prst="rect">
            <a:avLst/>
          </a:prstGeom>
          <a:solidFill>
            <a:srgbClr val="FF6B9D"/>
          </a:solidFill>
          <a:ln/>
        </p:spPr>
      </p:sp>
      <p:sp>
        <p:nvSpPr>
          <p:cNvPr id="28" name="Text 26"/>
          <p:cNvSpPr/>
          <p:nvPr/>
        </p:nvSpPr>
        <p:spPr>
          <a:xfrm>
            <a:off x="6190488" y="3081528"/>
            <a:ext cx="2441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Odpowiedzialność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190488" y="3401568"/>
            <a:ext cx="2441448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Jasne mechanizmy rozliczalności i nadzoru nad AI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RMF Core – 4 kluczowe funkcje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Kultura zarządzania ryzykiem AI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978408"/>
            <a:ext cx="8138160" cy="13716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115568"/>
            <a:ext cx="4069080" cy="17830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115568"/>
            <a:ext cx="4069080" cy="5029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576072" y="12344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76072" y="1554480"/>
            <a:ext cx="384048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Ustalenie kultury zarządzania ryzykiem AI – polityki, role, odpowiedzialność i procesy organizacyjne.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17720" y="1115568"/>
            <a:ext cx="4069080" cy="17830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1115568"/>
            <a:ext cx="4069080" cy="50292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12" name="Text 10"/>
          <p:cNvSpPr/>
          <p:nvPr/>
        </p:nvSpPr>
        <p:spPr>
          <a:xfrm>
            <a:off x="4782312" y="12344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82312" y="1554480"/>
            <a:ext cx="384048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Identyfikacja i klasyfikacja ryzyk AI – kontekst, interesariusze, potencjalne skutki.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3035808"/>
            <a:ext cx="4069080" cy="17830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3035808"/>
            <a:ext cx="4069080" cy="5029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6" name="Text 14"/>
          <p:cNvSpPr/>
          <p:nvPr/>
        </p:nvSpPr>
        <p:spPr>
          <a:xfrm>
            <a:off x="576072" y="315468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76072" y="3474720"/>
            <a:ext cx="384048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 i ocena ryzyk – metryki, ewaluacja, testy bezpieczeństwa modeli.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17720" y="3035808"/>
            <a:ext cx="4069080" cy="17830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17720" y="3035808"/>
            <a:ext cx="4069080" cy="50292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0" name="Text 18"/>
          <p:cNvSpPr/>
          <p:nvPr/>
        </p:nvSpPr>
        <p:spPr>
          <a:xfrm>
            <a:off x="4782312" y="315468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82312" y="3474720"/>
            <a:ext cx="384048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Priorytetyzacja i reagowanie na ryzyki – plany mitygacji, monitoring, doskonalenie.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Źródło: https://www.nist.gov/itl/ai-risk-management-framework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2560320" y="192024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 zabezpieczyć modele AI?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560320" y="283464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Dane · Model · Użytkowanie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 działa generatywna AI – punkty krytyczne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Trzy warstwy wymagające zabezpieczenia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978408"/>
            <a:ext cx="8138160" cy="13716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115568"/>
            <a:ext cx="2670048" cy="356616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115568"/>
            <a:ext cx="2670048" cy="5029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576072" y="1207008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576072" y="19202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76072" y="2377440"/>
            <a:ext cx="2377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Dane treningowe, zestawy danych, dane wejściowe użytkowników.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Zagrożenia: poisoning, exfiltration, leakage.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18688" y="1115568"/>
            <a:ext cx="2670048" cy="356616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18688" y="1115568"/>
            <a:ext cx="2670048" cy="5029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3" name="Text 11"/>
          <p:cNvSpPr/>
          <p:nvPr/>
        </p:nvSpPr>
        <p:spPr>
          <a:xfrm>
            <a:off x="3383280" y="1207008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3383280" y="19202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383280" y="2377440"/>
            <a:ext cx="2377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Architektura, wagi, interfejsy API.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Zagrożenia: tylne drzwi, naruszenia IP, niepewne źródła.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25896" y="1115568"/>
            <a:ext cx="2670048" cy="356616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25896" y="1115568"/>
            <a:ext cx="2670048" cy="50292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8" name="Text 16"/>
          <p:cNvSpPr/>
          <p:nvPr/>
        </p:nvSpPr>
        <p:spPr>
          <a:xfrm>
            <a:off x="6190488" y="1207008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6190488" y="19202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Użytkowanie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190488" y="2377440"/>
            <a:ext cx="2377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Interakcja użytkowników, endpointy, wyniki modelu.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Zagrożenia: prompt injection, DoS, kradzież modelu.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Zabezpieczenia danych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Ochrona na poziomie danych treningowych i wejściowych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978408"/>
            <a:ext cx="8138160" cy="13716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115568"/>
            <a:ext cx="4069080" cy="356616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115568"/>
            <a:ext cx="4069080" cy="50292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1887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Najpoważniejsze zagrożenia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162763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Zatrucie danych (data poisoning)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213055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Kradzież danych (exfiltration)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263347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Wyciek danych (leakage)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115568"/>
            <a:ext cx="4069080" cy="356616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115568"/>
            <a:ext cx="4069080" cy="50292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1887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 się bronić?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162763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Identyfikacja i klasyfikacja danych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213055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Szyfrowanie (at rest &amp; in transit)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0" y="263347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Kontrola dostępu i monitorowanie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Bezpieczeństwo modeli AI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Zagrożenia i środki zaradcze na poziomie modelu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978408"/>
            <a:ext cx="8138160" cy="13716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115568"/>
            <a:ext cx="4069080" cy="356616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115568"/>
            <a:ext cx="4069080" cy="50292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1887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Najpoważniejsze zagrożenia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162763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Niepewne źródło modelu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213055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jako "tylne drzwi" (backdoor)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263347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Wtyczki i API bez autoryzacji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313639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Naruszenia praw autorskich (IP)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115568"/>
            <a:ext cx="4069080" cy="356616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1115568"/>
            <a:ext cx="4069080" cy="50292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11887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 się bronić?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0" y="162763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Weryfikacja źródeł modeli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0" y="213055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Skany antywirusowe i checksumy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0" y="263347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Wzmacnianie systemów (hardening)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313639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Kontrola uprawnień i zgodność z prawem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Zabezpieczenia użytkownika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Zagrożenia i ochrona na poziomie interakcji z modelem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978408"/>
            <a:ext cx="8138160" cy="13716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115568"/>
            <a:ext cx="4069080" cy="356616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115568"/>
            <a:ext cx="4069080" cy="50292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1887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Najpoważniejsze zagrożenia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162763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213055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Atak DoS (Denial of Service)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263347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Kradzież modelu (model extraction)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115568"/>
            <a:ext cx="4069080" cy="356616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115568"/>
            <a:ext cx="4069080" cy="50292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1887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 się bronić?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162763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Monitorowanie i analiza zapytań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213055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– ograniczenia wejść/wyjść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0" y="263347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Systemy SIEM i SOAR dla AI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0" y="313639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Narzędzia AI security (np. LLM Guard)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Dziękuję za uwagę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411480" y="1828800"/>
            <a:ext cx="2670048" cy="219456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828800"/>
            <a:ext cx="2670048" cy="5029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576072" y="1947672"/>
            <a:ext cx="2441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zmienia krajobraz zagrożeń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76072" y="2267712"/>
            <a:ext cx="2441448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Nowe wektory ataku wymagają nowych strategii ochrony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18688" y="1828800"/>
            <a:ext cx="2670048" cy="219456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18688" y="1828800"/>
            <a:ext cx="2670048" cy="50292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1947672"/>
            <a:ext cx="2441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AI RMF to fundament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83280" y="2267712"/>
            <a:ext cx="2441448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Dobrowolne, ale niezbędne ramy zarządzania ryzykiem AI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25896" y="1828800"/>
            <a:ext cx="2670048" cy="219456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25896" y="1828800"/>
            <a:ext cx="2670048" cy="5029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5" name="Text 13"/>
          <p:cNvSpPr/>
          <p:nvPr/>
        </p:nvSpPr>
        <p:spPr>
          <a:xfrm>
            <a:off x="6190488" y="1947672"/>
            <a:ext cx="2441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Bezpieczeństwo = Dane + Model + Użytkowanie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90488" y="2267712"/>
            <a:ext cx="2441448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Każda warstwa wymaga osobnego podejścia i narzędzi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Materiały: NIST AI RMF · NIST CSF 2.0 · OWASP AI Security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 w Cyberbezpieczeństwie</dc:title>
  <dc:subject>PptxGenJS Presentation</dc:subject>
  <dc:creator>PptxGenJS</dc:creator>
  <cp:lastModifiedBy>PptxGenJS</cp:lastModifiedBy>
  <cp:revision>1</cp:revision>
  <dcterms:created xsi:type="dcterms:W3CDTF">2026-03-04T12:16:54Z</dcterms:created>
  <dcterms:modified xsi:type="dcterms:W3CDTF">2026-03-04T12:16:54Z</dcterms:modified>
</cp:coreProperties>
</file>